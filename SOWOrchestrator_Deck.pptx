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TITLE
This is the SOW Orchestrator — a 3-agent AI system available as both a browser-based tool and a Python CLI.
Open with: 'I built this system to automate the discovery-to-proposal workflow I ran manually hundreds of times at Broadcom and VMware. It runs as a browser tool anyone can open in 5 seconds — and as a Python CLI that engineers can integrate into their pipelines. Same 3-agent architecture, two interfaces.'
Key differentiator: The validation gate between Agent 1 and Agent 3 makes an autonomous go/no-go decision. That's what makes this genuinely agentic.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THE PROBLEM
Three problems, three solutions:
1. Time — 4-8 hours → 45 seconds
2. Scope errors → autonomous validation gate (Agent 2) catches contradictions before drafting
3. No pipeline integration → Python CLI solves this. You can now pipe discovery notes from any source and get a Word document out.
The third problem is new to this version of the deck — and it's the one the Python CLI specifically addresses. A browser tool is great for demos. A CLI is great for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3-AGENT SYSTEM
Note that Agent 3's output now explicitly says '.md + .docx' — both a Markdown file and a formatted Word document.
Key talking point: 'The Python CLI adds a third output format — a properly formatted Word document with charcoal headers, gold table accents, and effort totals. That's a file you can email directly to a customer without any manual formatting.'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HOW IT WORKS
Note step 4B now mentions both Browser and Python outputs: 'Browser shows HTML. Python exports .md + .docx.'
The key message is that the pipeline is identical regardless of interface. The user experience is different — one is a browser UI, one is a terminal — but Agent 1, 2, and 3 run the same prompts and produce the same quality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HLD ARCHITECTURE
Key update: Presentation Layer now shows BOTH interfaces — Browser and Python CLI.
Output Layer now shows three output formats: HTML (browser), Markdown (Python CLI), Word .docx (Python CLI).
Bottom note is updated: 'Single-file browser deployment OR pip install + python sow_generator.py'
This is where you explain the architectural choice: 'The orchestration layer is identical for both interfaces. The only difference is how input arrives and how output is delivered.'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TWO INTERFACES
This is the new slide — walk through both panels side by side.
Key comparison points:
- Browser: zero install, instant demo, great for sales situations
- Python: pip install, file I/O, Word document output, CI/CD integration
The Python CLI is what separates this from a typical AI demo. Talk track: 'A technical interviewer at Cisco or Nokia will ask — can you integrate this into a pipeline? Yes. pip install three packages, set your API key environment variable, and pipe discovery notes from any source. You get a Markdown file and a formatted Word document. That's a real tool, not a demo.'
The bottom of the Python panel shows the actual command — that's not a mockup, that's the real CLI.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LLD ARCHITECTURE
Note: Agent 3 output row now says 'Markdown + .docx' — the Python CLI adds Word document export on top of the Markdown that both interfaces produce.
Key technical points:
- The JSON repair chain (4 attempts) handles the most common failure mode: the model wrapping JSON in markdown code fences. This is production-grade error handling, not just a happy path.
- Token limits are deliberately asymmetric: Agent 1 is tight (4000) to force concise JSON. Agent 3 is wide (8000) to give the SOW room to breathe.
- The validation gate is the only place in the pipeline where execution branches. Everything else is linear.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VALIDATION GATE IN ACTION
Same slide as before — real validation output examples.
Key message: 'This is where the system earns its value. Not in writing the SOW — any AI can do that. In catching scope problems before the SOW is written.'
In the Python CLI, the rejection looks exactly the same — the terminal shows the issue list in colored Rich panels, and the script exits with code 2 so you can catch it in a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KEY BENEFITS
Two stats updated:
- '2 Deployment interfaces' — Browser and Python CLI
- '3 Output formats' — HTML, Markdown, Word .docx
The middle benefit card is now about Python + Word export — emphasize this: 'The Word document has proper formatting — charcoal section headers, gold table accents, effort totals highlighted. It looks like a document a senior consultant spent a day formatting. It takes 45 seconds to generate.'
For technical audiences, the Python card is the most impressive. For business audiences, lead with the 45-second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DEMO SCENARIOS
Key addition: the command strip at the bottom shows the actual Python CLI command for Scenario 03. This grounds the Python CLI in a concrete, demo-able action.
For demos: 'I can show you this two ways — I can open the browser version right now and paste the Telco NFV notes, or I can run the Python CLI from my terminal and show you the Word document it generates. Which would you prefer?'
Having both options is a conversation differentiator. Most candidates can only offer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CLOSING
Two clear calls to action — browser and Python CLI.
Talk track: 'I can demo this two ways right now. Browser: I open a URL and paste notes. Python CLI: I run one command in my terminal and you get a Word document in 45 seconds. Tell me which you'd like to see.'
For the GitHub link: 'The repo has both the HTML file and the Python script, a requirements.txt, and a full README with CLI examples. It's production-ready, not just a demo.'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anvzla.github.io/ai-sow-orchestrator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anvzla.github.io/ai-sow-orchestrator" TargetMode="External"/><Relationship Id="rId4" Type="http://schemas.openxmlformats.org/officeDocument/2006/relationships/hyperlink" Target="https://github.com/danvzla/ai-sow-orchestrator" TargetMode="Externa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5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18288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20040"/>
            <a:ext cx="109728" cy="109728"/>
          </a:xfrm>
          <a:prstGeom prst="ellipse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3716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274320"/>
            <a:ext cx="2194560" cy="347472"/>
          </a:xfrm>
          <a:prstGeom prst="rect">
            <a:avLst>
              <a:gd name="adj" fmla="val 13158"/>
            </a:avLst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4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</a:rPr>
              <a:t>AgentPM  ·  3-Agent AI System  ·  Browser + Python CLI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91440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20040" y="3200400"/>
            <a:ext cx="2286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3-agent pipeline · Discovery Analysis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Validation · Professional SOW Drafting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20624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1792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420624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47672" y="4206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11887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1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355080" y="1920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104888" y="1508760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69480" y="11887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26948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54F0B"/>
                </a:solidFill>
              </a:rPr>
              <a:t>2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223760" y="1920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7973568" y="1508760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38160" y="1188720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6D11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8092440" y="19202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Drafter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7223760" y="2606040"/>
            <a:ext cx="914400" cy="256032"/>
          </a:xfrm>
          <a:prstGeom prst="rect">
            <a:avLst/>
          </a:prstGeom>
          <a:solidFill>
            <a:srgbClr val="F5E9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223760" y="2606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7830"/>
                </a:solidFill>
              </a:rPr>
              <a:t>Validation Gate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004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Mazzini  ·  Principal Architect &amp; Senior TPM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SOW is one of the most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consulting deliverables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2057400"/>
            <a:ext cx="548640" cy="548640"/>
          </a:xfrm>
          <a:prstGeom prst="ellipse">
            <a:avLst/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hours per SOW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architect spends half a day converting discovery notes into a scope document — every single engagement, from scratch.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9202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2057400"/>
            <a:ext cx="548640" cy="54864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21396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errors reach customers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2900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Contradictions, missing assumptions, and ambiguous deliverables are caught too late — after the SOW is already in the customer's hands.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92024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2057400"/>
            <a:ext cx="548640" cy="548640"/>
          </a:xfrm>
          <a:prstGeom prst="ellipse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1396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 integration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63640" y="3200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creation is a manual, isolated task. There's no way to plug it into a CI/CD pipeline, a CRM trigger, or a batch process.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3-AGENT SYSTEM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agents — one autonomous decision gate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F5E9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16642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12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Analyst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· Structures · Extracts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raw discovery notes and produces a structured requirements brief: scope, deliverables, assumptions, risks, open items, success criteria.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" y="4343400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" y="434340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IN: Raw discovery notes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691640" y="4343400"/>
            <a:ext cx="1261872" cy="347472"/>
          </a:xfrm>
          <a:prstGeom prst="rect">
            <a:avLst/>
          </a:prstGeom>
          <a:solidFill>
            <a:srgbClr val="F5E9C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09928" y="434340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07830"/>
                </a:solidFill>
              </a:rPr>
              <a:t>OUT: Structured JSON brief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200400" y="1463040"/>
            <a:ext cx="27432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1600200"/>
            <a:ext cx="502920" cy="50292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375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4F0B"/>
                </a:solidFill>
              </a:rPr>
              <a:t>2</a:t>
            </a:r>
            <a:endParaRPr lang="en-US" sz="18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64208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37560" y="2212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Validator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33756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· Decides · Gates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33756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reviews Agent 1's brief for contradictions, gaps, missing assumptions, and unrealistic timelines. Makes the go/no-go decision — the only agent with decision authority.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310128" y="4343400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28416" y="434340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IN: Agent 1 JSON brief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572000" y="4343400"/>
            <a:ext cx="1261872" cy="34747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90288" y="434340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54F0B"/>
                </a:solidFill>
              </a:rPr>
              <a:t>OUT: Approved / Rejected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6080760" y="1463040"/>
            <a:ext cx="27432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80760" y="1463040"/>
            <a:ext cx="2743200" cy="548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17920" y="1600200"/>
            <a:ext cx="502920" cy="502920"/>
          </a:xfrm>
          <a:prstGeom prst="ellipse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2179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D11"/>
                </a:solidFill>
              </a:rPr>
              <a:t>3</a:t>
            </a:r>
            <a:endParaRPr lang="en-US" sz="18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664208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17920" y="2212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 Drafter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217920" y="25786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· Formats · Delivers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17920" y="28803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Agent 2 approves. Produces a complete 14-section SOW — professional prose, tables, and effort estimates. Output: Markdown + Word document.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190488" y="4343400"/>
            <a:ext cx="11430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08776" y="4343400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IN: Validated brief + approval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7452360" y="4343400"/>
            <a:ext cx="1261872" cy="347472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7470648" y="434340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6D11"/>
                </a:solidFill>
              </a:rPr>
              <a:t>OUT: SOW .md + .docx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notes to signed SOW in under 60 seconds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572768"/>
            <a:ext cx="640080" cy="640080"/>
          </a:xfrm>
          <a:prstGeom prst="ellipse">
            <a:avLst/>
          </a:prstGeom>
          <a:solidFill>
            <a:srgbClr val="F5E9C8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30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discovery notes — bullet points, stream of consciousness, anything. Browser textarea or text file for Python CLI.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35808" y="24048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4630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572768"/>
            <a:ext cx="640080" cy="640080"/>
          </a:xfrm>
          <a:prstGeom prst="ellipse">
            <a:avLst/>
          </a:prstGeom>
          <a:solidFill>
            <a:srgbClr val="F5E9C8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07830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runs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scope, deliverables, assumptions, risks, success criteria into structured JSON.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70448" y="2404872"/>
            <a:ext cx="164592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46304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572768"/>
            <a:ext cx="640080" cy="64008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4F0B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decides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743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brief autonomously. Returns: Approved, Approved with Warnings, or Rejected.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66160"/>
            <a:ext cx="54864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4005072"/>
            <a:ext cx="841248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434840"/>
            <a:ext cx="2651760" cy="128016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stops. Issues shown with exact fixes. Edit notes and rerun.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64208" y="4005072"/>
            <a:ext cx="54864" cy="4572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4504" y="4023360"/>
            <a:ext cx="54864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434840"/>
            <a:ext cx="2651760" cy="128016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4480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482803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drafts 14-section SOW. Browser shows HTML. Python exports .md + .docx.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516368" y="4005072"/>
            <a:ext cx="54864" cy="457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C9A84C"/>
                </a:solidFill>
              </a:rPr>
              <a:t>HIGH-LEVEL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HLD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3383280"/>
          </a:xfrm>
          <a:prstGeom prst="rect">
            <a:avLst/>
          </a:prstGeom>
          <a:solidFill>
            <a:srgbClr val="2A20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A1A"/>
                </a:solidFill>
              </a:rPr>
              <a:t>PRESENTATION LAYER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Browser: HTML/CSS/JS (index.html)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Python CLI: Rich terminal UI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6 pre-loaded discovery scenarios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Dark mode support (browser)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Print / copy SOW to clipboard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27248" y="306324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417320"/>
            <a:ext cx="2743200" cy="3383280"/>
          </a:xfrm>
          <a:prstGeom prst="rect">
            <a:avLst/>
          </a:prstGeom>
          <a:solidFill>
            <a:srgbClr val="1A1030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A1A"/>
                </a:solidFill>
              </a:rPr>
              <a:t>ORCHESTRATION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3-agent pipeline controller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Input sanitization &amp; JSON repair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Autonomous decision gate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Conditional Agent 3 execution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4-attempt JSON recovery chain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07608" y="3063240"/>
            <a:ext cx="16459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417320"/>
            <a:ext cx="2743200" cy="3383280"/>
          </a:xfrm>
          <a:prstGeom prst="rect">
            <a:avLst/>
          </a:prstGeom>
          <a:solidFill>
            <a:srgbClr val="0D2310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A1A1A"/>
                </a:solidFill>
              </a:rPr>
              <a:t>AI &amp; OUTPUT LAYER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Claude claude-haiku-4-5 API (×3 calls)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Agent 1: 4000 token limit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Agent 2: 6000 token limit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Agent 3: 8000 token limit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Output: HTML · Markdown · Word (.docx)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browser deployment  OR  pip install + python sow_generator.py  ·  No server required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TWO INTERFACES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3-agent pipeline. Choose your interface.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16052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9047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417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 ·  index.html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84048" y="1920240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463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no technical setup required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2304288"/>
            <a:ext cx="412394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3042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63040" y="2304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open file in Chrome / Safari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4048" y="2688336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2688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463040" y="26883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notes into textarea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072384"/>
            <a:ext cx="412394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07238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463040" y="30723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SOW rendered in browser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84048" y="3456432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463040" y="34564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to PDF · Copy to clipboard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84048" y="3840480"/>
            <a:ext cx="412394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840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46304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pre-loaded · dropdown select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4048" y="4224528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224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46304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demos · customer workshops · interviews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84048" y="4608576"/>
            <a:ext cx="4123944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6085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1463040" y="46085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once · stored in browser localStorage</a:t>
            </a:r>
            <a:endParaRPr lang="en-US" sz="950" dirty="0"/>
          </a:p>
        </p:txBody>
      </p:sp>
      <p:sp>
        <p:nvSpPr>
          <p:cNvPr id="33" name="Text 30">
            <a:hlinkClick r:id="rId2" tooltip=""/>
          </p:cNvPr>
          <p:cNvSpPr/>
          <p:nvPr/>
        </p:nvSpPr>
        <p:spPr>
          <a:xfrm>
            <a:off x="384048" y="4818888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danvzla.github.io/ai-sow-orchestrator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663440" y="1417320"/>
            <a:ext cx="4160520" cy="3520440"/>
          </a:xfrm>
          <a:prstGeom prst="rect">
            <a:avLst/>
          </a:prstGeom>
          <a:solidFill>
            <a:srgbClr val="F0F7FF"/>
          </a:solidFill>
          <a:ln w="12700">
            <a:solidFill>
              <a:srgbClr val="3776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63440" y="1417320"/>
            <a:ext cx="4160520" cy="38404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90472"/>
            <a:ext cx="237744" cy="237744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074920" y="1417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  ·  sow_generator.py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681728" y="1920240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00600" y="1920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85216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· technical teams · CI/CD pipelines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681728" y="2304288"/>
            <a:ext cx="4123944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00600" y="23042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5852160" y="23042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4681728" y="2688336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800600" y="26883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852160" y="26883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file or stdin · argparse CLI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4681728" y="3072384"/>
            <a:ext cx="4123944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80060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49" name="Text 45"/>
          <p:cNvSpPr/>
          <p:nvPr/>
        </p:nvSpPr>
        <p:spPr>
          <a:xfrm>
            <a:off x="5852160" y="30723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.md + Word .docx files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681728" y="3456432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800600" y="3456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5852160" y="3456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Word doc — customer-ready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681728" y="3840480"/>
            <a:ext cx="4123944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80060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950" dirty="0"/>
          </a:p>
        </p:txBody>
      </p:sp>
      <p:sp>
        <p:nvSpPr>
          <p:cNvPr id="55" name="Text 51"/>
          <p:cNvSpPr/>
          <p:nvPr/>
        </p:nvSpPr>
        <p:spPr>
          <a:xfrm>
            <a:off x="58521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built-in · or provide any text file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4681728" y="4224528"/>
            <a:ext cx="412394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800600" y="42245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50" dirty="0"/>
          </a:p>
        </p:txBody>
      </p:sp>
      <p:sp>
        <p:nvSpPr>
          <p:cNvPr id="58" name="Text 54"/>
          <p:cNvSpPr/>
          <p:nvPr/>
        </p:nvSpPr>
        <p:spPr>
          <a:xfrm>
            <a:off x="5852160" y="4224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batch processing · integration</a:t>
            </a:r>
            <a:endParaRPr lang="en-US" sz="950" dirty="0"/>
          </a:p>
        </p:txBody>
      </p:sp>
      <p:sp>
        <p:nvSpPr>
          <p:cNvPr id="59" name="Shape 55"/>
          <p:cNvSpPr/>
          <p:nvPr/>
        </p:nvSpPr>
        <p:spPr>
          <a:xfrm>
            <a:off x="4681728" y="4608576"/>
            <a:ext cx="4123944" cy="365760"/>
          </a:xfrm>
          <a:prstGeom prst="rect">
            <a:avLst/>
          </a:prstGeom>
          <a:solidFill>
            <a:srgbClr val="EBF4FB"/>
          </a:solidFill>
          <a:ln w="12700">
            <a:solidFill>
              <a:srgbClr val="D0E8F7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800600" y="46085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5852160" y="4608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ANTHROPIC_API_KEY env var or --api-key flag</a:t>
            </a:r>
            <a:endParaRPr lang="en-US" sz="950" dirty="0"/>
          </a:p>
        </p:txBody>
      </p:sp>
      <p:sp>
        <p:nvSpPr>
          <p:cNvPr id="62" name="Shape 58"/>
          <p:cNvSpPr/>
          <p:nvPr/>
        </p:nvSpPr>
        <p:spPr>
          <a:xfrm>
            <a:off x="4681728" y="4773168"/>
            <a:ext cx="4123944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754880" y="47731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sow_generator.py notes.txt --type "Telco NFV"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LOW-LEVEL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&amp; data flow — LLD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83464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834640" cy="329184"/>
          </a:xfrm>
          <a:prstGeom prst="rect">
            <a:avLst/>
          </a:prstGeom>
          <a:solidFill>
            <a:srgbClr val="A07830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AGENT 1 — DISCOVERY ANALYST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injection: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Solutions Architect 20+ yrs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404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34440" y="2404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discovery notes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2935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234440" y="2935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brief — 13 structured fields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4655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3444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· concise structured output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3995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23444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4-attempt JSON repair chain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27248" y="3090672"/>
            <a:ext cx="256032" cy="54864"/>
          </a:xfrm>
          <a:prstGeom prst="rect">
            <a:avLst/>
          </a:prstGeom>
          <a:solidFill>
            <a:srgbClr val="A07830"/>
          </a:solidFill>
          <a:ln w="12700">
            <a:solidFill>
              <a:srgbClr val="A07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417320"/>
            <a:ext cx="283464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417320"/>
            <a:ext cx="2834640" cy="32918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417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AGENT 2 — SCOPE VALIDATOR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64408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injection: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QA Architect &amp; Risk Manager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64408" y="2404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0" y="2404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JSON brief (stringified)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64408" y="2935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2935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· Gaps · Unrealistic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64408" y="34655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+ issues + quality_score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64408" y="3995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logic: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→ stop · else → proceed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07608" y="3090672"/>
            <a:ext cx="256032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1417320"/>
            <a:ext cx="283464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417320"/>
            <a:ext cx="2834640" cy="32918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1417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</a:rPr>
              <a:t>AGENT 3 — SOW DRAFTER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44768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injection: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951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Principal Consultant 20+ yrs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144768" y="24048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95160" y="24048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brief + warnings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44768" y="29352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95160" y="29352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14-section SOW (Markdown + .docx)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44768" y="34655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95160" y="346557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 · full document generation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39959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95160" y="39959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runs if Agent 2 approves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794760" y="4800600"/>
            <a:ext cx="1554480" cy="256032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800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54F0B"/>
                </a:solidFill>
              </a:rPr>
              <a:t>⚡ Autonomous validation gate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VALIDATION GATE IN 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makes autonomous go / no-go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90472"/>
            <a:ext cx="548640" cy="548640"/>
          </a:xfrm>
          <a:prstGeom prst="ellipse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6D11"/>
                </a:solidFill>
              </a:rPr>
              <a:t>87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score: 87/100  ·  Decision: APPROVED  ·  3 scope items confirmed  ·  1 warning flagged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8412480" cy="777240"/>
          </a:xfrm>
          <a:prstGeom prst="rect">
            <a:avLst/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54864" cy="7772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·  Dependency Risk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Ericsson equipment coexistence during 3-year phase-out creates integration complexity not captured in deliverables.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255264"/>
            <a:ext cx="8412480" cy="32004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552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·  Quality score: 42/100  ·  2 critical issues found  ·  Agent 3 blocked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593592"/>
            <a:ext cx="54864" cy="69494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393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 requirement conflicts with 180 VM migration 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0507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migration approach and maintenance window schedule to discovery notes.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343400"/>
            <a:ext cx="54864" cy="69494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 criteria defined for NSX microsegmentation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8006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Define criteria: % of workloads segmented, audit evidence format, acceptance sign-off.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292608"/>
          </a:xfrm>
          <a:prstGeom prst="rect">
            <a:avLst/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C9A84C"/>
                </a:solidFill>
              </a:rPr>
              <a:t>KEY BENEFITS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1371600"/>
          </a:xfrm>
          <a:prstGeom prst="rect">
            <a:avLst/>
          </a:prstGeom>
          <a:solidFill>
            <a:srgbClr val="0D1B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notes to SOW draft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4-8 hours manually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1463040"/>
            <a:ext cx="2011680" cy="1371600"/>
          </a:xfrm>
          <a:prstGeom prst="rect">
            <a:avLst/>
          </a:prstGeom>
          <a:solidFill>
            <a:srgbClr val="0D1B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33472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3472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one responsibility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9744" y="1463040"/>
            <a:ext cx="2011680" cy="1371600"/>
          </a:xfrm>
          <a:prstGeom prst="rect">
            <a:avLst/>
          </a:prstGeom>
          <a:solidFill>
            <a:srgbClr val="0D1B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09744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interfaces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9744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Python CLI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86016" y="1463040"/>
            <a:ext cx="2011680" cy="1371600"/>
          </a:xfrm>
          <a:prstGeom prst="rect">
            <a:avLst/>
          </a:prstGeom>
          <a:solidFill>
            <a:srgbClr val="0D1B0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6016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86016" y="2194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Markdown · Word (.docx)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2743200" cy="1783080"/>
          </a:xfrm>
          <a:prstGeom prst="rect">
            <a:avLst/>
          </a:prstGeom>
          <a:solidFill>
            <a:srgbClr val="0D1B0A"/>
          </a:solidFill>
          <a:ln w="12700">
            <a:solidFill>
              <a:srgbClr val="1E3A0E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347472" cy="3474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78992" y="32004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quality gate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" y="363931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catches contradictions and scope gaps before Agent 3 writes a word. Prevents change orders and customer disputes.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337560" y="3063240"/>
            <a:ext cx="2743200" cy="1783080"/>
          </a:xfrm>
          <a:prstGeom prst="rect">
            <a:avLst/>
          </a:prstGeom>
          <a:solidFill>
            <a:srgbClr val="0D1B0A"/>
          </a:solidFill>
          <a:ln w="12700">
            <a:solidFill>
              <a:srgbClr val="1E3A0E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3200400"/>
            <a:ext cx="347472" cy="34747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959352" y="32004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 + Word export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520440" y="363931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can integrate SOW generation into any pipeline. Input: text file. Output: formatted Word document ready to send to a customer.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6217920" y="3063240"/>
            <a:ext cx="2743200" cy="1783080"/>
          </a:xfrm>
          <a:prstGeom prst="rect">
            <a:avLst/>
          </a:prstGeom>
          <a:solidFill>
            <a:srgbClr val="0D1B0A"/>
          </a:solidFill>
          <a:ln w="12700">
            <a:solidFill>
              <a:srgbClr val="1E3A0E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00400"/>
            <a:ext cx="347472" cy="34747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39712" y="32004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real experience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400800" y="3639312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scenarios map to VCF, NSX, Telco NFV, SASE, Cloud, and NOC programs — the actual engagements from 20+ years across VMware, Dell EMC, and Juniper.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A07830"/>
                </a:solidFill>
              </a:rPr>
              <a:t>DEMO SCENARIOS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pre-loaded scenarios — browser dropdown or Python CLI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VCF Private Cloud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  ·  $500K–$2M  ·  9 months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VM migration · vSAN stretched cluster · NSX from day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28620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8620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Cisco · Nutanix · Broadcom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55848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Security Hardening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·  $150K–$500K  ·  14 weeks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55848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deadline · DFW across 4 hospitals · Epic vendor approvals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55848" y="28620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8620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Palo Alto · VMware · Healthcare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72200" y="14173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4173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81928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NFV Transformation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1928" y="23591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Carrier  ·  $2M+  ·  18 months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81928" y="26060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readiness · vEPC + vIMS + vFirewall · OSS/BSS integration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81928" y="28620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8620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Nokia · Ericsson · Mavenir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32461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461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29768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SASE / SD-WAN Migration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9768" y="4187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 ·  $150K–$500K  ·  6 months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9768" y="4434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plants incl. Mexico · SAP cutover deadline · Zero trust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" y="46908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4690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Cisco · Palo Alto · VMware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46120" y="32461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32461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355848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Modernization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355848" y="4187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Technology  ·  $95K  ·  8 weeks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55848" y="4434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$840K/month · 180 microservices · FinOps framework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55848" y="46908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55848" y="4690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AWS · Google Cloud · NetApp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172200" y="3246120"/>
            <a:ext cx="27889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246120"/>
            <a:ext cx="27889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81928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281928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Automation Program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81928" y="41879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MSO  ·  $1.4M  ·  18 months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81928" y="4434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NOCs · MTTR 4.2hr target 90min · ServiceNow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81928" y="4690872"/>
            <a:ext cx="2560320" cy="237744"/>
          </a:xfrm>
          <a:prstGeom prst="rect">
            <a:avLst/>
          </a:prstGeom>
          <a:solidFill>
            <a:srgbClr val="F5E9C8"/>
          </a:solidFill>
          <a:ln w="12700">
            <a:solidFill>
              <a:srgbClr val="F5E9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46908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07830"/>
                </a:solidFill>
              </a:rPr>
              <a:t>For: Nokia · Ericsson · Kyndryl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8280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sow_generator.py notes.txt --type "Telco NFV Transformation" --industry "Telco / CSP"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A1208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</a:rPr>
              <a:t>LIVE DEMO AVAILABLE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— two ways</a:t>
            </a:r>
            <a:endParaRPr lang="en-US" sz="4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</p:txBody>
      </p:sp>
      <p:sp>
        <p:nvSpPr>
          <p:cNvPr id="8" name="Text 5">
            <a:hlinkClick r:id="rId2" tooltip=""/>
          </p:cNvPr>
          <p:cNvSpPr/>
          <p:nvPr/>
        </p:nvSpPr>
        <p:spPr>
          <a:xfrm>
            <a:off x="457200" y="2221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danvzla.github.io/ai-sow-orchestrator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2697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044952"/>
            <a:ext cx="5943600" cy="274320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0449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76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 &amp;&amp; python sow_generator.py notes.txt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3401568"/>
            <a:ext cx="5943600" cy="256032"/>
          </a:xfrm>
          <a:prstGeom prst="rect">
            <a:avLst/>
          </a:prstGeom>
          <a:solidFill>
            <a:srgbClr val="3D3D3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0">
            <a:hlinkClick r:id="rId4" tooltip=""/>
          </p:cNvPr>
          <p:cNvSpPr/>
          <p:nvPr/>
        </p:nvSpPr>
        <p:spPr>
          <a:xfrm>
            <a:off x="548640" y="34015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github.com/danvzla/ai-sow-orchestrator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" y="3840480"/>
            <a:ext cx="2286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Mazzini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7200" y="44074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Architect &amp; Senior TPM  ·  Cloud &amp; Infrastructure  ·  Telco  ·  Automation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danvzla@gmail.com  ·  +1 678-428-3789  ·  Coppell, TX  ·  Bilingual: English &amp; Spanish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132320" y="4480560"/>
            <a:ext cx="1737360" cy="502920"/>
          </a:xfrm>
          <a:prstGeom prst="rect">
            <a:avLst/>
          </a:prstGeom>
          <a:solidFill>
            <a:srgbClr val="3D3D3D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0" y="4480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</a:rPr>
              <a:t>AgentPM  ·  AI Tool 3 of 4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6858000" y="109728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SOW Orchestrator — AgentPM</dc:title>
  <dc:subject>PptxGenJS Presentation</dc:subject>
  <dc:creator>Daniel Mazzini</dc:creator>
  <cp:lastModifiedBy>Daniel Mazzini</cp:lastModifiedBy>
  <cp:revision>1</cp:revision>
  <dcterms:created xsi:type="dcterms:W3CDTF">2026-06-08T03:56:22Z</dcterms:created>
  <dcterms:modified xsi:type="dcterms:W3CDTF">2026-06-08T03:56:22Z</dcterms:modified>
</cp:coreProperties>
</file>